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ba51bed50646eb" /><Relationship Type="http://schemas.openxmlformats.org/officeDocument/2006/relationships/extended-properties" Target="/docProps/app.xml" Id="R81e7a3ab8d9a45cf" /><Relationship Type="http://schemas.openxmlformats.org/officeDocument/2006/relationships/officeDocument" Target="/ppt/presentation.xml" Id="R3c3976f070c640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bbbd9c3818456c"/>
  </p:sldMasterIdLst>
  <p:notesMasterIdLst>
    <p:notesMasterId xmlns:r="http://schemas.openxmlformats.org/officeDocument/2006/relationships" r:id="R7680464070a34739"/>
  </p:notesMasterIdLst>
  <p:sldIdLst>
    <p:sldId xmlns:r="http://schemas.openxmlformats.org/officeDocument/2006/relationships" id="256" r:id="R3f727f4a79d34153"/>
  </p:sldIdLst>
  <p:sldSz cx="13716000" cy="21945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bbbd9c3818456c" /><Relationship Type="http://schemas.openxmlformats.org/officeDocument/2006/relationships/theme" Target="/ppt/theme/theme1.xml" Id="Re4196bcf2f5d40e3" /><Relationship Type="http://schemas.openxmlformats.org/officeDocument/2006/relationships/notesMaster" Target="/ppt/notesMasters/notesMaster1.xml" Id="R7680464070a34739" /><Relationship Type="http://schemas.openxmlformats.org/officeDocument/2006/relationships/presProps" Target="/ppt/presProps.xml" Id="R83812ca9265e4d11" /><Relationship Type="http://schemas.openxmlformats.org/officeDocument/2006/relationships/viewProps" Target="/ppt/viewProps.xml" Id="R9c6ae36dceba4d0a" /><Relationship Type="http://schemas.openxmlformats.org/officeDocument/2006/relationships/tableStyles" Target="/ppt/tableStyles.xml" Id="R3f1181184c1141eb" /><Relationship Type="http://schemas.openxmlformats.org/officeDocument/2006/relationships/slide" Target="/ppt/slides/slide1.xml" Id="R3f727f4a79d341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12292a8e3a94b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4e2c2691164d4a" /><Relationship Type="http://schemas.openxmlformats.org/officeDocument/2006/relationships/notesMaster" Target="/ppt/notesMasters/notesMaster1.xml" Id="R734cf5a5db6c40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a90b083e0466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fe11c5dfb9247c4" /><Relationship Type="http://schemas.openxmlformats.org/officeDocument/2006/relationships/slideLayout" Target="/ppt/slideLayouts/slideLayout2.xml" Id="R1e8edb85e4ab4d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8edb85e4ab4d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fae8618fe24b58" /><Relationship Type="http://schemas.openxmlformats.org/officeDocument/2006/relationships/image" Target="/ppt/media/image.png" Id="R8e549641b4ec4825" /><Relationship Type="http://schemas.openxmlformats.org/officeDocument/2006/relationships/image" Target="/ppt/media/image2.png" Id="R29cbd19c157d4805" /><Relationship Type="http://schemas.openxmlformats.org/officeDocument/2006/relationships/image" Target="/ppt/media/image3.png" Id="Rdb90123f97934d5b" /><Relationship Type="http://schemas.openxmlformats.org/officeDocument/2006/relationships/image" Target="/ppt/media/image4.png" Id="R17ba93bd3d7a4637" /><Relationship Type="http://schemas.openxmlformats.org/officeDocument/2006/relationships/image" Target="/ppt/media/image5.png" Id="R21ebf12d99d7444a" /><Relationship Type="http://schemas.openxmlformats.org/officeDocument/2006/relationships/image" Target="/ppt/media/image6.png" Id="R8e63dff59971476d" /><Relationship Type="http://schemas.openxmlformats.org/officeDocument/2006/relationships/notesSlide" Target="/ppt/notesSlides/notesSlide1.xml" Id="R37225004d67a4c0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F2161F-8DA0-45E3-9F78-8845AB6A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2194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F"/>
          </a:solidFill>
          <a:ln xmlns:a="http://schemas.openxmlformats.org/drawingml/2006/main" w="0">
            <a:solidFill>
              <a:srgbClr val="F5FB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4019A-622B-4F10-AF03-9975B61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16FCD-13CA-4DB7-AA6C-16C591DF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52650"/>
            <a:ext cx="1371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FB3"/>
          </a:solidFill>
          <a:ln xmlns:a="http://schemas.openxmlformats.org/drawingml/2006/main" w="0">
            <a:solidFill>
              <a:srgbClr val="0B6F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969A8-802A-423C-83F9-A0804EE4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PHISHGUARD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D73FC-3860-4FB3-A458-E86198E0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857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6ED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6EDFF"/>
                </a:solidFill>
                <a:latin typeface="Aptos Display"/>
                <a:ea typeface="Aptos Display"/>
                <a:cs typeface="Aptos Display"/>
              </a:rPr>
              <a:t>DevSecOps-Based Phishing Email Detection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52DB5-1163-4E69-B9A6-A9E903A8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33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Detect · Analyse · Protect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D623D-540B-46AC-9B13-71ACE832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866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7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7FF"/>
                </a:solidFill>
                <a:latin typeface="Aptos"/>
                <a:ea typeface="Aptos"/>
                <a:cs typeface="Aptos"/>
              </a:rPr>
              <a:t>Tashi Namgay (CIHE241207) · Giovanni · Masaba · Aditi</a:t>
            </a:r>
          </a:p>
          <a:p xmlns:a="http://schemas.openxmlformats.org/drawingml/2006/main">
            <a:pPr algn="l">
              <a:defRPr sz="1500" b="0">
                <a:solidFill>
                  <a:srgbClr val="EAF7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7FF"/>
                </a:solidFill>
                <a:latin typeface="Aptos"/>
                <a:ea typeface="Aptos"/>
                <a:cs typeface="Aptos"/>
              </a:rPr>
              <a:t>Crown Institute of Higher Education | ICT932 Cybersecurity Testing and Assurance | S1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3335D-A9E7-40CE-BF1F-204F1CF8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F9D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C9C06-36C9-4F94-8BF7-CFC6846C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19100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F9D5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F9D55"/>
                </a:solidFill>
                <a:latin typeface="Aptos Display"/>
                <a:ea typeface="Aptos Display"/>
                <a:cs typeface="Aptos Display"/>
              </a:rPr>
              <a:t>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FA26C-4FB1-4AE4-818F-50548737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895350"/>
            <a:ext cx="1371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automated tests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8B26E-D66F-4EC7-9591-9B75D2B2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4290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B6F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8C3AA-BD26-402A-822A-76179F6C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1910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0-100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0D530-614D-4C88-A408-CFF30868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895350"/>
            <a:ext cx="1543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explainable risk 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CBABC-189E-4337-83C4-CDFEC8CB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A3A"/>
          </a:solidFill>
          <a:ln xmlns:a="http://schemas.openxmlformats.org/drawingml/2006/main" w="0">
            <a:solidFill>
              <a:srgbClr val="D93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0698E-E1F8-44DD-8AA2-C3360E16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383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93BA1-1952-4D7F-BBFE-00223C92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192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E6324-D4A1-475B-BF95-820D6A2A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38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YELLOW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61EF9-B9C9-4FDE-89E9-CD4BF5AF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619250"/>
            <a:ext cx="1066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55"/>
          </a:solidFill>
          <a:ln xmlns:a="http://schemas.openxmlformats.org/drawingml/2006/main" w="0">
            <a:solidFill>
              <a:srgbClr val="1F9D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61C38-4EFB-4A79-90F3-8F48B96F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6383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GREEN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C9E4B-9374-460B-B7DB-3FF9C5E3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7D6F9-4392-4BB3-9882-16D4B08C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PROBLEM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35CD78-1734-4DAD-81A6-307D2C91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14700"/>
            <a:ext cx="3981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8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E613D-AC24-43BF-9CDE-16E26C23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3676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Phishing emails exploit trust, urgency and hidden malicious links.</a:t>
            </a:r>
          </a:p>
          <a:p xmlns:a="http://schemas.openxmlformats.org/drawingml/2006/main">
            <a:pPr algn="l">
              <a:defRPr sz="16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Simple filters struggle with changing wording, attachment tricks and sender mismatch.</a:t>
            </a:r>
          </a:p>
          <a:p xmlns:a="http://schemas.openxmlformats.org/drawingml/2006/main">
            <a:pPr algn="l">
              <a:defRPr sz="16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Users need risk explanation, not only a safe/phishing label.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1F2A4E-6460-40C9-A657-3A2915BF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0540BF-4A1E-417C-82E6-3742430C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OBJECTIVES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3A376A-21E1-427A-942E-58123231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39814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8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B8DA57-0AD2-49FD-BA0E-B917F7FD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36766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Build a browser-based phishing email detector.</a:t>
            </a:r>
          </a:p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Analyse URLs, keywords, headers and attachments.</a:t>
            </a:r>
          </a:p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Show RED / YELLOW / GREEN risk level with reasons.</a:t>
            </a:r>
          </a:p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Secure access with bcrypt, RBAC, CSRF protection and optional 2FA.</a:t>
            </a:r>
          </a:p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Provide PDF/CSV report export and quarantine review workflow.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F5461-38D7-4B83-899E-3D7ED0F9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F922F5-2950-4DF0-BA24-6BC651D2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7260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SECURITY CONTROLS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3A2865-D332-4C0A-BF8C-22C1B21E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48850"/>
            <a:ext cx="39814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8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AF96FA-9F15-4292-A953-5A6497C1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393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F"/>
          </a:solidFill>
          <a:ln xmlns:a="http://schemas.openxmlformats.org/drawingml/2006/main" w="9525">
            <a:solidFill>
              <a:srgbClr val="9BC8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0275A-9E8E-431B-ACD0-29FF3706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584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rPr>
              <a:t>AUTH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A6FB00-6CA3-4DBF-A416-8A4E1035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02030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bcrypt + Flask-Login sessions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5403A3-6168-4417-AB68-0F9E8377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F"/>
          </a:solidFill>
          <a:ln xmlns:a="http://schemas.openxmlformats.org/drawingml/2006/main" w="9525">
            <a:solidFill>
              <a:srgbClr val="9BC8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F32699-4832-435A-A328-00942225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53465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rPr>
              <a:t>RBAC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2E2EEC-24C6-42F3-930F-22F263EF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496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admin and analyst route protection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94E2BA-BB48-4113-82E2-E9396D1D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918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F"/>
          </a:solidFill>
          <a:ln xmlns:a="http://schemas.openxmlformats.org/drawingml/2006/main" w="9525">
            <a:solidFill>
              <a:srgbClr val="9BC8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4AFAF0-C135-42BB-A6B8-B4F66522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109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rPr>
              <a:t>2FA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E26130-9AB0-4336-907F-526532CF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97280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PyOTP TOTP optional per user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3241D8-FF34-48A9-9337-755AEB34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681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F"/>
          </a:solidFill>
          <a:ln xmlns:a="http://schemas.openxmlformats.org/drawingml/2006/main" w="9525">
            <a:solidFill>
              <a:srgbClr val="9BC8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380E92-20BA-4A16-83DE-18204CA7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8715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rPr>
              <a:t>CSRF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144F96-C041-401B-ACBF-98BFA7C5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14490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WTForms tokens on browser forms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145098-7D99-4959-9FB9-EA8455E2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4435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F"/>
          </a:solidFill>
          <a:ln xmlns:a="http://schemas.openxmlformats.org/drawingml/2006/main" w="9525">
            <a:solidFill>
              <a:srgbClr val="9BC8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546CD8-6438-4568-A4A8-4C789989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9634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83BDA1-AC16-454F-99C4-4B537D6C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192530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.txt, .eml and .docx upload controls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A84732-ED7B-42E2-B2E8-F15A4FE2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420600"/>
            <a:ext cx="819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F"/>
          </a:solidFill>
          <a:ln xmlns:a="http://schemas.openxmlformats.org/drawingml/2006/main" w="9525">
            <a:solidFill>
              <a:srgbClr val="9BC8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263757-EFDE-4A14-AF8F-3AC49909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43965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rPr>
              <a:t>AUDIT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668158-B8EF-4780-8FAD-1551A7F1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401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login attempts saved for 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74E86A-A075-4729-AC16-C2C9C73E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0645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6ADAE2-507E-46BB-A0F0-C0B9DDFC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445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DEVELOPMENT EVIDENCE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B0ABE3-6EC4-4E96-A0CB-8DF08C21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20800"/>
            <a:ext cx="3981450" cy="407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8E8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49641b4ec4825"/>
          <a:stretch xmlns:a="http://schemas.openxmlformats.org/drawingml/2006/main"/>
        </p:blipFill>
        <p:spPr>
          <a:xfrm xmlns:a="http://schemas.openxmlformats.org/drawingml/2006/main">
            <a:off x="941708" y="14211300"/>
            <a:ext cx="3126735" cy="259080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E89952-94E1-4799-AE20-4DED5BAC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35450"/>
            <a:ext cx="3638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PyTest, Bandit, pip-audit and OWASP ZAP were used to make security evidence part of development, not an afterthought.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CE944B-E912-4AA9-9F93-E46DFFE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124101-0206-4F09-9E4A-FB876270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384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SYSTEM ARCHITECTURE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277CF5-DD65-4327-87FF-3E8BA7CA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39814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8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307BD5-3F2B-4267-A877-0A007300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81400"/>
            <a:ext cx="3448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FB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A861F5-A858-4BA5-8AB5-F8B67E47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29025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rPr>
              <a:t>Browser / Frontend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A053D6-1E8F-4A93-9D85-10E3BACD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2902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HTML, CSS, JS, Jinja2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D77457B-6261-4EEE-A83C-85D3BAD8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4000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FB3"/>
          </a:solidFill>
          <a:ln xmlns:a="http://schemas.openxmlformats.org/drawingml/2006/main" w="0">
            <a:solidFill>
              <a:srgbClr val="0B6FB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8E0FBD-139D-4EC4-8EAB-F1960694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86250"/>
            <a:ext cx="3448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F"/>
          </a:solidFill>
          <a:ln xmlns:a="http://schemas.openxmlformats.org/drawingml/2006/main" w="19050">
            <a:solidFill>
              <a:srgbClr val="0B6FB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19B9395-A425-4D94-A34D-8010CB6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33875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rPr>
              <a:t>Flask Backend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73E4DE-C8ED-4AE5-91CC-1B88F417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338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routes, auth, CSRF, middleware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FD848E3-E2E4-4FE2-A36B-670B8881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81550"/>
            <a:ext cx="4000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FB3"/>
          </a:solidFill>
          <a:ln xmlns:a="http://schemas.openxmlformats.org/drawingml/2006/main" w="0">
            <a:solidFill>
              <a:srgbClr val="0B6FB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761EFC-605F-4082-9D4F-10D40A34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91100"/>
            <a:ext cx="3448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FB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010CF5-D9E3-4ECD-92D7-216778AC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38725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rPr>
              <a:t>Analysis Engine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70DF81-A36B-4E46-9E56-87FD5044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3872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URL, keyword, header, attachment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7F4E37-0914-45AF-BFD2-E66756D7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86400"/>
            <a:ext cx="4000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FB3"/>
          </a:solidFill>
          <a:ln xmlns:a="http://schemas.openxmlformats.org/drawingml/2006/main" w="0">
            <a:solidFill>
              <a:srgbClr val="0B6FB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DD265C5-393B-4C8E-91F9-38453349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95950"/>
            <a:ext cx="3448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F"/>
          </a:solidFill>
          <a:ln xmlns:a="http://schemas.openxmlformats.org/drawingml/2006/main" w="19050">
            <a:solidFill>
              <a:srgbClr val="0B6FB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3A5E61-6B39-4746-9329-C4131DB4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743575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rPr>
              <a:t>MongoDB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0AF7499-F524-4DF9-B772-3058E27F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7435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users, sessions, results, quarantine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6434286-1DBA-473D-86E4-0A784D27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02945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C55B5C-D949-4939-8DF3-FF05CC45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70675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EMAIL ANALYSIS PIPELINE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F30710C-3C13-42F6-A9A4-2EA5C9A5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543800"/>
            <a:ext cx="39814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8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926DA30-6B9A-4837-8810-591733A2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81050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FB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405919-CDFA-4099-993C-86A65C19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886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URL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C198950-ACF4-4C82-B28F-A20EB5F5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8172450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IP links, shorteners, phishing-word domains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AE7F6BA-D7BB-4016-BDFA-4F846222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781050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FB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3A661B2-F92B-4230-B51A-6E8F1C28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886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Keyword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EF43EA0-A96B-4D33-9588-64F2D967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172450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urgency, finance and password request language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77A4568-1120-4EBF-986A-F0BF60AC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902970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FB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BE6ACD8-FF03-4093-BC80-35934128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105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Header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3D5DE4D-6515-4FCC-B481-998900D7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9391650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reply-to mismatch and sender anomalies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EC07941-75F3-4278-B545-3803062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902970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FB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7D86E9F-F1A7-4AB6-BCC0-0EB79850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9105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Attach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08225D-F782-4D4D-A0C7-E4079874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9391650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dangerous or double-extension files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19315C2-4C30-491F-B673-CBF0DCFB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0096500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46579"/>
                </a:solidFill>
                <a:latin typeface="Aptos"/>
                <a:ea typeface="Aptos"/>
                <a:cs typeface="Aptos"/>
              </a:rPr>
              <a:t>The four modules combine into a scored, explainable risk output.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9A0EA0-3D27-49CF-A8B3-F1FBEF80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87755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53B160-51E4-4957-BBBB-C4E57D0F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09156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APPLICATION INTERFACE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BC184F7-EC73-470C-91E2-D3A79C19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391900"/>
            <a:ext cx="39814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8E8"/>
            </a:solidFill>
            <a:prstDash val="solid"/>
          </a:ln>
        </p:spPr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bd19c157d4805"/>
          <a:stretch xmlns:a="http://schemas.openxmlformats.org/drawingml/2006/main"/>
        </p:blipFill>
        <p:spPr>
          <a:xfrm xmlns:a="http://schemas.openxmlformats.org/drawingml/2006/main">
            <a:off x="4933950" y="12111076"/>
            <a:ext cx="3638550" cy="1400097"/>
          </a:xfrm>
          <a:prstGeom xmlns:a="http://schemas.openxmlformats.org/drawingml/2006/main" prst="rect">
            <a:avLst/>
          </a:prstGeom>
        </p:spPr>
      </p:pic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0123f97934d5b"/>
          <a:stretch xmlns:a="http://schemas.openxmlformats.org/drawingml/2006/main"/>
        </p:blipFill>
        <p:spPr>
          <a:xfrm xmlns:a="http://schemas.openxmlformats.org/drawingml/2006/main">
            <a:off x="5458827" y="14135100"/>
            <a:ext cx="2588797" cy="1257300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BF397DA-279E-4C81-9FE8-DF23535D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04010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3C10397-23E9-4377-A4AE-0E7790B9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07820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DEVSECOPS LIFECYCLE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6F711AE-4023-4D10-A6A9-C6230FA3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554450"/>
            <a:ext cx="39814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8E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061B797-237D-48BC-8767-E25E3DC8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802100"/>
            <a:ext cx="628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FB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399EA0F-4ECF-4097-9D67-98379815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7830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58AD5DA-34B3-44E9-9DCE-45B7886D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01165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Plan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F260B79-77C3-4ED9-81D4-09E59C69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92592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71C783C-DD84-4199-90A0-65F5AD78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802100"/>
            <a:ext cx="628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FB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09455AF-B80F-4C98-BF4B-6CE97928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67830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79A69E8-554D-46B7-914F-D55D7967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01165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CC535C8-C8EB-4F33-BF73-40C03698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92592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624C33F-E29C-45B4-85C2-B778BE12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02100"/>
            <a:ext cx="628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F"/>
          </a:solidFill>
          <a:ln xmlns:a="http://schemas.openxmlformats.org/drawingml/2006/main" w="19050">
            <a:solidFill>
              <a:srgbClr val="0B6FB3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BC89356-7911-42AB-80CE-7F69A2C6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830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56D8D8F-D674-4DC5-B78A-41DFDF53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01165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Secure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28D1C93-6C3C-4309-8944-EBB8260A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692592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8AE90C0-3DF2-4039-8236-F9983F75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802100"/>
            <a:ext cx="628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FB3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33EE7A4-EFB9-4580-8B84-CFDF4116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830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6284914-C989-4C25-B326-2FB96C65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01165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Test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69174D1-CEFC-4C02-AB13-59075430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692592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3F3F9F4-53B8-488F-BDAD-7186C921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802100"/>
            <a:ext cx="628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FB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13CC4CD-7B89-4E6E-9699-C987C1E2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7830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CAD2D8F-376E-4EA5-9BD6-7FCF5AAF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011650"/>
            <a:ext cx="628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22033"/>
                </a:solidFill>
                <a:latin typeface="Aptos Display"/>
                <a:ea typeface="Aptos Display"/>
                <a:cs typeface="Aptos Display"/>
              </a:rPr>
              <a:t>Evaluate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1E16ECA-28FC-49F9-8D43-82E47DE1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430750"/>
            <a:ext cx="3524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Threat modelling, secure coding and automated testing produced repeatable project evidence.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8359992-81C4-44C9-8BEC-414F9FFA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AB54DE7-12E5-40E3-A6EE-FC29FA13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384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TESTING &amp; VALIDATION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D0CC7D5-7440-4E22-97DC-CDDB7BBB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14700"/>
            <a:ext cx="39814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8E8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BAEDDC8-F1C5-49DB-B0D0-58E6B4F1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0045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B6FB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A191027-562C-42B2-9E7A-3C324E66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7665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0B6FB3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9933ED3-3CD9-4E45-A6DD-4CB0198D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5290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testing layers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0406D57-DC57-42E1-A472-E33FF1F1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00450"/>
            <a:ext cx="1162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F9D5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A04F946-CD6E-4197-9C20-67359076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6650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9D5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F9D55"/>
                </a:solidFill>
                <a:latin typeface="Aptos Display"/>
                <a:ea typeface="Aptos Display"/>
                <a:cs typeface="Aptos Display"/>
              </a:rPr>
              <a:t>PDF + CSV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88ADE29-CD18-4677-AAE9-071E7EDA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529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report export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75247C-84BC-487E-ADDA-AC557A4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600450"/>
            <a:ext cx="1028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8345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7104994-A534-4E0B-A7A3-C1695E23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6766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8345F"/>
                </a:solidFill>
                <a:latin typeface="Aptos Display"/>
                <a:ea typeface="Aptos Display"/>
                <a:cs typeface="Aptos Display"/>
              </a:rPr>
              <a:t>RBAC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5AA9035-3CA0-40FA-951F-38B66A2B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15290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access control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53372D4-4AC4-441E-ABB4-EFD390C7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57750"/>
            <a:ext cx="3600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Unit tests: parser, URL, attachment, scoring and keyword matching.</a:t>
            </a:r>
          </a:p>
          <a:p xmlns:a="http://schemas.openxmlformats.org/drawingml/2006/main">
            <a:pPr algn="l"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Auth tests: login, protected routes, approval flow and sessions.</a:t>
            </a:r>
          </a:p>
          <a:p xmlns:a="http://schemas.openxmlformats.org/drawingml/2006/main">
            <a:pPr algn="l">
              <a:defRPr sz="12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Security regression: CSRF, 2FA, export controls and upload extraction.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DB040A3-CC09-4306-B7F2-D405CBA3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40080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5D38475-819A-4C65-BCE4-892069E3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643890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ML / MODEL EVIDENCE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CC7CB14-924A-489C-A8D1-4567A0FB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915150"/>
            <a:ext cx="39814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8E8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a93bd3d7a4637"/>
          <a:stretch xmlns:a="http://schemas.openxmlformats.org/drawingml/2006/main"/>
        </p:blipFill>
        <p:spPr>
          <a:xfrm xmlns:a="http://schemas.openxmlformats.org/drawingml/2006/main">
            <a:off x="9635502" y="7124700"/>
            <a:ext cx="2731745" cy="1524000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bf12d99d7444a"/>
          <a:stretch xmlns:a="http://schemas.openxmlformats.org/drawingml/2006/main"/>
        </p:blipFill>
        <p:spPr>
          <a:xfrm xmlns:a="http://schemas.openxmlformats.org/drawingml/2006/main">
            <a:off x="9239250" y="8893840"/>
            <a:ext cx="1676400" cy="1319470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3dff59971476d"/>
          <a:stretch xmlns:a="http://schemas.openxmlformats.org/drawingml/2006/main"/>
        </p:blipFill>
        <p:spPr>
          <a:xfrm xmlns:a="http://schemas.openxmlformats.org/drawingml/2006/main">
            <a:off x="11049000" y="9175136"/>
            <a:ext cx="1733550" cy="737828"/>
          </a:xfrm>
          <a:prstGeom xmlns:a="http://schemas.openxmlformats.org/drawingml/2006/main" prst="rect">
            <a:avLst/>
          </a:prstGeom>
        </p:spPr>
      </p:pic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4C6136F-2FD5-40CB-87C2-6FEE1405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0344150"/>
            <a:ext cx="3638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Colab evidence compares BERT, DistilBERT, LLaMA and ensemble approaches behind the detection prototype.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17E541D-8E9C-4442-ACB2-5643A70A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20140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27B6036-5D32-4E08-9395-0B4085AA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123950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RESULTS &amp; IMPROVEMENTS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6182720-53D5-4D1C-8E6F-1300BBAD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715750"/>
            <a:ext cx="39814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8E8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6F78C49-DD87-498F-858D-910C529C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887200"/>
            <a:ext cx="3638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Manual input and .txt/.eml/.docx upload are working.</a:t>
            </a:r>
          </a:p>
          <a:p xmlns:a="http://schemas.openxmlformats.org/drawingml/2006/main">
            <a:pPr algn="l">
              <a:defRPr sz="14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Risk score returns a colour level and plain-language reasons.</a:t>
            </a:r>
          </a:p>
          <a:p xmlns:a="http://schemas.openxmlformats.org/drawingml/2006/main">
            <a:pPr algn="l">
              <a:defRPr sz="14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PDF and CSV report downloads are functional.</a:t>
            </a:r>
          </a:p>
          <a:p xmlns:a="http://schemas.openxmlformats.org/drawingml/2006/main">
            <a:pPr algn="l">
              <a:defRPr sz="14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CSV export now checks for existing records before creating files.</a:t>
            </a:r>
          </a:p>
          <a:p xmlns:a="http://schemas.openxmlformats.org/drawingml/2006/main">
            <a:pPr algn="l">
              <a:defRPr sz="14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Analysis results display on the same Analyse Email page.</a:t>
            </a:r>
          </a:p>
          <a:p xmlns:a="http://schemas.openxmlformats.org/drawingml/2006/main">
            <a:pPr algn="l">
              <a:defRPr sz="14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UI labels and colour system were redesigned for clarity.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256C53F-ACBC-404E-A0FA-3C7DA506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20950"/>
            <a:ext cx="3981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B69134E-F7BA-4C83-BA30-00BEF1DD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259050"/>
            <a:ext cx="382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LIMITATIONS &amp; FUTURE WORK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E9C90DA-0B89-4C27-9FF7-1C7975C1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735300"/>
            <a:ext cx="39814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C8E8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3C1D8DD-8034-4D53-A939-9775AD2F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5925800"/>
            <a:ext cx="36385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Rule-based detection can miss new phishing styles.</a:t>
            </a:r>
          </a:p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ML classifier depends on dataset quality.</a:t>
            </a:r>
          </a:p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Production HTTPS, Docker and CI/CD scanning remain future work.</a:t>
            </a:r>
          </a:p>
          <a:p xmlns:a="http://schemas.openxmlformats.org/drawingml/2006/main">
            <a:pPr algn="l">
              <a:defRPr sz="1500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• Add URL reputation, SPF/DKIM/DMARC checks and monitoring.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3E1E7AD-898D-433B-966C-D0894319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11850"/>
            <a:ext cx="126873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45F"/>
          </a:solidFill>
          <a:ln xmlns:a="http://schemas.openxmlformats.org/drawingml/2006/main" w="0">
            <a:solidFill>
              <a:srgbClr val="08345F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71594E6-0DFF-495E-9EC3-9A67B0EE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214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65A7810-4E73-4494-BE82-6078CA69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786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PhishGuard demonstrates a complete academic cybersecurity prototype: secure access control, explainable phishing risk analysis, analyst/admin workflows, and repeatable DevSecOps testing evidence.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32B7961-0812-4D3B-AAA5-12B67ED9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6ED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D6EDFF"/>
                </a:solidFill>
                <a:latin typeface="Aptos Display"/>
                <a:ea typeface="Aptos Display"/>
                <a:cs typeface="Aptos Display"/>
              </a:rPr>
              <a:t>Detect threats. Explain risk. Protect users.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20DDB3F-6B69-4ED2-8A4A-36CF372B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97600"/>
            <a:ext cx="3581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19050">
            <a:solidFill>
              <a:srgbClr val="DFF2FF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67CA9DF-BF85-421A-9D54-40D7E84A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Technology Stack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729E1CB-3A78-490C-8B1E-864CCB3D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469100"/>
            <a:ext cx="3257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AF7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7FF"/>
                </a:solidFill>
                <a:latin typeface="Aptos"/>
                <a:ea typeface="Aptos"/>
                <a:cs typeface="Aptos"/>
              </a:rPr>
              <a:t>Python Flask · MongoDB · Jinja2 · PyOTP</a:t>
            </a:r>
          </a:p>
          <a:p xmlns:a="http://schemas.openxmlformats.org/drawingml/2006/main">
            <a:pPr algn="ctr">
              <a:defRPr sz="1500" b="0">
                <a:solidFill>
                  <a:srgbClr val="EAF7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AF7FF"/>
                </a:solidFill>
                <a:latin typeface="Aptos"/>
                <a:ea typeface="Aptos"/>
                <a:cs typeface="Aptos"/>
              </a:rPr>
              <a:t>PyTest · Bandit · pip-audit · OWASP ZAP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08B404D-63CA-4B1F-A12F-4593BF45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07400"/>
            <a:ext cx="1268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4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46579"/>
                </a:solidFill>
                <a:latin typeface="Aptos"/>
                <a:ea typeface="Aptos"/>
                <a:cs typeface="Aptos"/>
              </a:rPr>
              <a:t>Source evidence: project presentation, screenshot report, Colab/model evidence and PhishLens final material. Poster prepared for academic print submission.</a:t>
            </a:r>
          </a:p>
        </p:txBody>
      </p:sp>
    </p:spTree>
    <p:extLst>
      <p:ext uri="{BB962C8B-B14F-4D97-AF65-F5344CB8AC3E}">
        <p14:creationId xmlns:p14="http://schemas.microsoft.com/office/powerpoint/2010/main" val="19969480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2026-05-21T06:42:34.9510000Z</dcterms:created>
  <dcterms:modified xsi:type="dcterms:W3CDTF">2026-05-21T06:42:34.9510000Z</dcterms:modified>
</coreProperties>
</file>